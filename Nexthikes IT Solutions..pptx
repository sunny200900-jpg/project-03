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6" r:id="rId14"/>
    <p:sldId id="275" r:id="rId15"/>
    <p:sldId id="274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97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91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45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90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85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92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4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19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21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31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7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99D00-99C7-4748-BC76-9D39F2A20A6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12A4B2F-79A3-4AE6-B95C-E635E02813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5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://localhost:8888/notebooks/Documents/EDA/EDA1/EDA%20Project%203.ipynb#Univariate-Analysi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localhost:8888/notebooks/Documents/EDA/EDA1/EDA%20Project%203.ipynb#Multivariate-analysi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1" y="582555"/>
            <a:ext cx="10013949" cy="5440871"/>
            <a:chOff x="0" y="190500"/>
            <a:chExt cx="20027900" cy="10881743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499" cy="3615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</a:pPr>
              <a:r>
                <a:rPr lang="en-US" sz="7000" spc="-140" dirty="0">
                  <a:solidFill>
                    <a:srgbClr val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  <a:sym typeface="Tenor Sans"/>
                </a:rPr>
                <a:t>Nexthikes IT Solutions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10399" y="10368717"/>
              <a:ext cx="13017501" cy="703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87"/>
                </a:lnSpc>
                <a:spcBef>
                  <a:spcPct val="0"/>
                </a:spcBef>
              </a:pPr>
              <a:r>
                <a:rPr lang="en-US" sz="1867" b="1" dirty="0">
                  <a:solidFill>
                    <a:srgbClr val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  <a:sym typeface="Clear Sans"/>
                </a:rPr>
                <a:t>PRESENTED BY VIKAS KUMAR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15300" y="0"/>
            <a:ext cx="4076700" cy="6858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8474" t="-978" r="-56410" b="3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849757" y="4930736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2AFD0-0C32-4E7E-8654-6D43C24FA929}"/>
              </a:ext>
            </a:extLst>
          </p:cNvPr>
          <p:cNvSpPr txBox="1"/>
          <p:nvPr/>
        </p:nvSpPr>
        <p:spPr>
          <a:xfrm>
            <a:off x="378848" y="2463800"/>
            <a:ext cx="8968352" cy="83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87"/>
              </a:lnSpc>
              <a:spcBef>
                <a:spcPct val="0"/>
              </a:spcBef>
            </a:pPr>
            <a:r>
              <a:rPr lang="en-US" sz="2133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Exploratory Data Analysis (EDA) for Real Estate Pricing: Unveiling the </a:t>
            </a:r>
          </a:p>
          <a:p>
            <a:pPr>
              <a:lnSpc>
                <a:spcPts val="2987"/>
              </a:lnSpc>
              <a:spcBef>
                <a:spcPct val="0"/>
              </a:spcBef>
            </a:pPr>
            <a:r>
              <a:rPr lang="en-US" sz="2133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Dynamics of House Valuation in a Dynamic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0379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19371" y="463885"/>
            <a:ext cx="6633879" cy="2576481"/>
            <a:chOff x="-250258" y="0"/>
            <a:chExt cx="13267758" cy="5152964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13017500" cy="1393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666" u="sng" spc="-93" dirty="0">
                  <a:solidFill>
                    <a:srgbClr val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  <a:sym typeface="Tenor Sans"/>
                </a:rPr>
                <a:t>Agenda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50258" y="1935947"/>
              <a:ext cx="13017500" cy="531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 dirty="0">
                  <a:solidFill>
                    <a:srgbClr val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  <a:sym typeface="Clear Sans Medium"/>
                </a:rPr>
                <a:t>Project Tasks :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673602"/>
              <a:ext cx="13017500" cy="479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  <a:spcBef>
                  <a:spcPct val="0"/>
                </a:spcBef>
              </a:pPr>
              <a:endParaRPr lang="en-US" sz="1399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E7A4CC-0119-4C1F-8EA3-DB7788B6EB19}"/>
              </a:ext>
            </a:extLst>
          </p:cNvPr>
          <p:cNvSpPr txBox="1"/>
          <p:nvPr/>
        </p:nvSpPr>
        <p:spPr>
          <a:xfrm>
            <a:off x="202131" y="1840037"/>
            <a:ext cx="7141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Loading the Data: </a:t>
            </a:r>
          </a:p>
          <a:p>
            <a:r>
              <a:rPr lang="en-US" dirty="0"/>
              <a:t>● Task: Load the real estate pricing dataset into a Pandas Data Frame. </a:t>
            </a:r>
          </a:p>
          <a:p>
            <a:r>
              <a:rPr lang="en-US" dirty="0"/>
              <a:t>● Python Library: Pandas </a:t>
            </a:r>
          </a:p>
          <a:p>
            <a:r>
              <a:rPr lang="en-US" dirty="0"/>
              <a:t>● Explanation: Load the dataset provided in a CSV or Excel format into a    Pandas Data Frame to facilitate easy manipulation and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02A032-7E52-4B5B-96DD-2BB8F4CBB58D}"/>
              </a:ext>
            </a:extLst>
          </p:cNvPr>
          <p:cNvSpPr txBox="1"/>
          <p:nvPr/>
        </p:nvSpPr>
        <p:spPr>
          <a:xfrm>
            <a:off x="202131" y="3698583"/>
            <a:ext cx="71419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Cleaning the Data: </a:t>
            </a:r>
          </a:p>
          <a:p>
            <a:r>
              <a:rPr lang="en-US" dirty="0"/>
              <a:t>● Task: Clean the dataset by handling missing values, removing duplicates, and addressing any anomalies. </a:t>
            </a:r>
          </a:p>
          <a:p>
            <a:r>
              <a:rPr lang="en-US" dirty="0"/>
              <a:t>● Python Library: Pandas </a:t>
            </a:r>
          </a:p>
          <a:p>
            <a:r>
              <a:rPr lang="en-US" dirty="0"/>
              <a:t>● Explanation: Ensure data quality by eliminating missing values, removing duplicate entries, and addressing any anomalies or inconsistencies in the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55600" y="635000"/>
            <a:ext cx="10515600" cy="836582"/>
            <a:chOff x="0" y="-47625"/>
            <a:chExt cx="21031200" cy="1673164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21031200" cy="639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endParaRPr lang="en-US" sz="32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Medium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7"/>
              <a:ext cx="9182100" cy="479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  <a:spcBef>
                  <a:spcPct val="0"/>
                </a:spcBef>
              </a:pPr>
              <a:endParaRPr lang="en-US" sz="1399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56450" y="2809351"/>
            <a:ext cx="4591050" cy="836485"/>
            <a:chOff x="0" y="-47625"/>
            <a:chExt cx="9182100" cy="1672970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1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Medium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3"/>
              <a:ext cx="9182100" cy="479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  <a:spcBef>
                  <a:spcPct val="0"/>
                </a:spcBef>
              </a:pPr>
              <a:endParaRPr lang="en-US" sz="1399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56450" y="4598988"/>
            <a:ext cx="4591050" cy="836573"/>
            <a:chOff x="0" y="-47625"/>
            <a:chExt cx="9182100" cy="167314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1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Medium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60"/>
              <a:ext cx="9182100" cy="479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  <a:spcBef>
                  <a:spcPct val="0"/>
                </a:spcBef>
              </a:pPr>
              <a:endParaRPr lang="en-US" sz="1399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-2091621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0BF65-DA9D-4D0E-86F2-887D2699125F}"/>
              </a:ext>
            </a:extLst>
          </p:cNvPr>
          <p:cNvSpPr txBox="1"/>
          <p:nvPr/>
        </p:nvSpPr>
        <p:spPr>
          <a:xfrm>
            <a:off x="165367" y="211541"/>
            <a:ext cx="7146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Univariate Analysis: </a:t>
            </a:r>
          </a:p>
          <a:p>
            <a:r>
              <a:rPr lang="en-US" dirty="0"/>
              <a:t>● Task: Explore individual variables to understand their distributions and characteristics. </a:t>
            </a:r>
          </a:p>
          <a:p>
            <a:r>
              <a:rPr lang="en-US" dirty="0"/>
              <a:t>● Python Library: Matplotlib, Seaborn </a:t>
            </a:r>
          </a:p>
          <a:p>
            <a:r>
              <a:rPr lang="en-US" dirty="0"/>
              <a:t>● Explanation: Conduct a univariate analysis to understand the distribution of key variables like house prices. Utilize histograms, kernel density plots, or other visualizations to gain insights into the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6D5F1-9BD7-424D-9688-531A87C62303}"/>
              </a:ext>
            </a:extLst>
          </p:cNvPr>
          <p:cNvSpPr txBox="1"/>
          <p:nvPr/>
        </p:nvSpPr>
        <p:spPr>
          <a:xfrm>
            <a:off x="165367" y="2574044"/>
            <a:ext cx="7146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4.Bivariate Analysis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Example 1: Living Area vs Sale Price (Numeric–Numeric)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Variables: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GrLivArea</a:t>
            </a:r>
            <a:r>
              <a:rPr lang="en-US" b="0" i="0" dirty="0">
                <a:effectLst/>
                <a:latin typeface="system-ui"/>
              </a:rPr>
              <a:t> → Living area (sq. ft)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→ House price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Purpose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To understand how house size affects </a:t>
            </a:r>
            <a:r>
              <a:rPr lang="en-US" b="0" i="0" dirty="0" err="1">
                <a:effectLst/>
                <a:latin typeface="system-ui"/>
              </a:rPr>
              <a:t>pric</a:t>
            </a:r>
            <a:endParaRPr lang="en-US" b="0" i="0" dirty="0">
              <a:effectLst/>
              <a:latin typeface="system-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EED72-AA5A-4E04-BCC1-4DF4715E0FC3}"/>
              </a:ext>
            </a:extLst>
          </p:cNvPr>
          <p:cNvSpPr txBox="1"/>
          <p:nvPr/>
        </p:nvSpPr>
        <p:spPr>
          <a:xfrm>
            <a:off x="4441424" y="3755736"/>
            <a:ext cx="74762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Multivariate Analysis: </a:t>
            </a:r>
          </a:p>
          <a:p>
            <a:r>
              <a:rPr lang="en-US" dirty="0"/>
              <a:t>● Task: Investigate relationships between multiple variables, especially those impacting house prices. </a:t>
            </a:r>
          </a:p>
          <a:p>
            <a:r>
              <a:rPr lang="en-US" dirty="0"/>
              <a:t>● Python Library: Matplotlib, Seaborn</a:t>
            </a:r>
          </a:p>
          <a:p>
            <a:r>
              <a:rPr lang="en-US" dirty="0"/>
              <a:t> ● Explanation: Perform multivariate analysis to understand the correlations and dependencies between various features. Utilize techniques like correlation matrices or scatterplot matrices for a comprehensive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6450" y="1041400"/>
            <a:ext cx="4591050" cy="749352"/>
            <a:chOff x="0" y="0"/>
            <a:chExt cx="9182100" cy="149870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44506" y="1792782"/>
            <a:ext cx="411945" cy="24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99"/>
              </a:lnSpc>
              <a:spcBef>
                <a:spcPct val="0"/>
              </a:spcBef>
            </a:pPr>
            <a:endParaRPr lang="en-US" sz="1666" b="1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lear Sa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156450" y="4622800"/>
            <a:ext cx="4591050" cy="749352"/>
            <a:chOff x="0" y="0"/>
            <a:chExt cx="9182100" cy="1498704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56450" y="2832100"/>
            <a:ext cx="4591050" cy="749352"/>
            <a:chOff x="0" y="0"/>
            <a:chExt cx="9182100" cy="149870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-2091621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A0314C-C969-426C-8571-7D57AC106589}"/>
              </a:ext>
            </a:extLst>
          </p:cNvPr>
          <p:cNvSpPr txBox="1"/>
          <p:nvPr/>
        </p:nvSpPr>
        <p:spPr>
          <a:xfrm>
            <a:off x="262289" y="155715"/>
            <a:ext cx="7146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effectLst/>
                <a:latin typeface="system-ui"/>
              </a:rPr>
              <a:t>Univariate Analysis</a:t>
            </a:r>
            <a:r>
              <a:rPr lang="en-US" sz="4000" b="1" i="0" u="sng" dirty="0">
                <a:solidFill>
                  <a:srgbClr val="0D47A1"/>
                </a:solidFill>
                <a:effectLst/>
                <a:latin typeface="system-ui"/>
                <a:hlinkClick r:id="rId4"/>
              </a:rPr>
              <a:t>¶</a:t>
            </a:r>
            <a:endParaRPr lang="en-US" sz="4000" b="1" i="0" dirty="0">
              <a:effectLst/>
              <a:latin typeface="system-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DF23A1-1EB6-4D29-BB49-366DB4BFBBF5}"/>
              </a:ext>
            </a:extLst>
          </p:cNvPr>
          <p:cNvSpPr txBox="1"/>
          <p:nvPr/>
        </p:nvSpPr>
        <p:spPr>
          <a:xfrm>
            <a:off x="678414" y="3688382"/>
            <a:ext cx="541758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1: Histogram Plot</a:t>
            </a: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##Insight:</a:t>
            </a: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skewness</a:t>
            </a: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outliers</a:t>
            </a: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check normality</a:t>
            </a:r>
          </a:p>
          <a:p>
            <a:pPr algn="l"/>
            <a:endParaRPr lang="en-US" sz="16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AutoShape 2" descr="Output image">
            <a:extLst>
              <a:ext uri="{FF2B5EF4-FFF2-40B4-BE49-F238E27FC236}">
                <a16:creationId xmlns:a16="http://schemas.microsoft.com/office/drawing/2014/main" id="{E51323F2-AE85-4AFE-8E07-A2874D6B38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DCAFE62-3BBE-4F17-A5F9-2D02C2B28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720" y="2315355"/>
            <a:ext cx="6668135" cy="379651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FEBE4B0-7275-488D-B151-930B22003F34}"/>
              </a:ext>
            </a:extLst>
          </p:cNvPr>
          <p:cNvSpPr txBox="1"/>
          <p:nvPr/>
        </p:nvSpPr>
        <p:spPr>
          <a:xfrm>
            <a:off x="262289" y="1167037"/>
            <a:ext cx="7146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Univariate analysis</a:t>
            </a:r>
            <a:r>
              <a:rPr lang="en-US" dirty="0"/>
              <a:t> involves the examination of a </a:t>
            </a:r>
            <a:r>
              <a:rPr lang="en-US" b="1" dirty="0"/>
              <a:t>single variable</a:t>
            </a:r>
            <a:r>
              <a:rPr lang="en-US" dirty="0"/>
              <a:t> at a time to understand its distribution, central tendency, spread, and presence of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0379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27473D-4547-4670-9863-A74EA185D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45836"/>
              </p:ext>
            </p:extLst>
          </p:nvPr>
        </p:nvGraphicFramePr>
        <p:xfrm>
          <a:off x="355600" y="4107674"/>
          <a:ext cx="7213600" cy="2451717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52681839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6254571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149914"/>
                  </a:ext>
                </a:extLst>
              </a:tr>
              <a:tr h="560934"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6315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616709"/>
                  </a:ext>
                </a:extLst>
              </a:tr>
              <a:tr h="386421">
                <a:tc>
                  <a:txBody>
                    <a:bodyPr/>
                    <a:lstStyle/>
                    <a:p>
                      <a:endParaRPr lang="en-US" sz="130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246095"/>
                  </a:ext>
                </a:extLst>
              </a:tr>
              <a:tr h="386421"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861549"/>
                  </a:ext>
                </a:extLst>
              </a:tr>
              <a:tr h="386421">
                <a:tc>
                  <a:txBody>
                    <a:bodyPr/>
                    <a:lstStyle/>
                    <a:p>
                      <a:endParaRPr lang="en-US" sz="1300">
                        <a:latin typeface="+mj-lt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+mj-lt"/>
                      </a:endParaRPr>
                    </a:p>
                  </a:txBody>
                  <a:tcPr marL="60960" marR="60960" marT="30480" marB="30480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978067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9715F40-AB72-4D48-95E4-D9B111231EFC}"/>
              </a:ext>
            </a:extLst>
          </p:cNvPr>
          <p:cNvSpPr txBox="1"/>
          <p:nvPr/>
        </p:nvSpPr>
        <p:spPr>
          <a:xfrm>
            <a:off x="355600" y="479477"/>
            <a:ext cx="7141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Example 2: Box Plot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915193-2FC7-425B-96D8-C2F0DE67E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699" y="1659417"/>
            <a:ext cx="4223312" cy="31247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D59BE7-E60B-4A90-962B-038B09340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011" y="1659417"/>
            <a:ext cx="4445842" cy="31134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1A5094-ABD0-4C72-9B4E-EBFDFDEACAAF}"/>
              </a:ext>
            </a:extLst>
          </p:cNvPr>
          <p:cNvSpPr txBox="1"/>
          <p:nvPr/>
        </p:nvSpPr>
        <p:spPr>
          <a:xfrm>
            <a:off x="391428" y="2335915"/>
            <a:ext cx="71419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effectLst/>
                <a:latin typeface="system-ui"/>
              </a:rPr>
              <a:t>##Insight:</a:t>
            </a:r>
          </a:p>
          <a:p>
            <a:pPr algn="l"/>
            <a:r>
              <a:rPr lang="en-US" sz="2800" b="1" i="0" dirty="0">
                <a:effectLst/>
                <a:latin typeface="system-ui"/>
              </a:rPr>
              <a:t>Median</a:t>
            </a:r>
          </a:p>
          <a:p>
            <a:pPr algn="l"/>
            <a:r>
              <a:rPr lang="en-US" sz="2800" b="1" i="0" dirty="0">
                <a:effectLst/>
                <a:latin typeface="system-ui"/>
              </a:rPr>
              <a:t>Spread (IQR)</a:t>
            </a:r>
          </a:p>
          <a:p>
            <a:pPr algn="l"/>
            <a:r>
              <a:rPr lang="en-US" sz="2800" b="1" i="0" dirty="0">
                <a:effectLst/>
                <a:latin typeface="system-ui"/>
              </a:rPr>
              <a:t>Extreme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6450" y="1041400"/>
            <a:ext cx="4591050" cy="749352"/>
            <a:chOff x="0" y="0"/>
            <a:chExt cx="9182100" cy="149870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56450" y="4622800"/>
            <a:ext cx="4591050" cy="749352"/>
            <a:chOff x="0" y="0"/>
            <a:chExt cx="9182100" cy="1498704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4500" y="1041400"/>
            <a:ext cx="4794250" cy="69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endParaRPr lang="en-US" sz="4666" spc="-93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Tenor Sa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156450" y="2832100"/>
            <a:ext cx="4591050" cy="749352"/>
            <a:chOff x="0" y="0"/>
            <a:chExt cx="9182100" cy="149870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19212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-2091621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5126BDC-3DEE-4E18-958F-4D1EF8A9D881}"/>
              </a:ext>
            </a:extLst>
          </p:cNvPr>
          <p:cNvSpPr txBox="1">
            <a:spLocks/>
          </p:cNvSpPr>
          <p:nvPr/>
        </p:nvSpPr>
        <p:spPr>
          <a:xfrm>
            <a:off x="172720" y="142526"/>
            <a:ext cx="6858000" cy="10898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23" indent="-457223" algn="l">
              <a:lnSpc>
                <a:spcPts val="2240"/>
              </a:lnSpc>
              <a:buFont typeface="Arial" panose="020B0604020202020204" pitchFamily="34" charset="0"/>
              <a:buChar char="•"/>
            </a:pPr>
            <a:endParaRPr lang="en-US" sz="3200" b="1" u="sng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A4308E-B098-482F-9043-0E4C74B555E9}"/>
              </a:ext>
            </a:extLst>
          </p:cNvPr>
          <p:cNvSpPr txBox="1"/>
          <p:nvPr/>
        </p:nvSpPr>
        <p:spPr>
          <a:xfrm>
            <a:off x="2984366" y="96303"/>
            <a:ext cx="7146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Example 3: Count Plot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7413B5-C4A1-476E-972D-ACF1068B8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44" y="3014796"/>
            <a:ext cx="5834356" cy="3067082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E1E404AB-6633-4943-81D5-B8D1FB482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" y="1106873"/>
            <a:ext cx="131673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number of house sales (338)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shows high activity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329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noticeable decline (304 sales)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2007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number of sales (175)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sharp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activity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2006 to 2009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relatively stable, followed by a steep fall in 2010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AA829F8-8F53-44D5-AAF9-B462081D5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14796"/>
            <a:ext cx="6095999" cy="30670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6450" y="1041401"/>
            <a:ext cx="4591050" cy="749351"/>
            <a:chOff x="0" y="0"/>
            <a:chExt cx="9182100" cy="1498703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9211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56450" y="4622801"/>
            <a:ext cx="4591050" cy="749351"/>
            <a:chOff x="0" y="0"/>
            <a:chExt cx="9182100" cy="1498703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19211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56450" y="2832101"/>
            <a:ext cx="4591050" cy="749351"/>
            <a:chOff x="0" y="0"/>
            <a:chExt cx="9182100" cy="149870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19211"/>
              <a:ext cx="91821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-2091621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E7DA654-10FB-4A36-AB57-105CA0A61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3175" cy="369332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800">
                <a:solidFill>
                  <a:srgbClr val="E6E8F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altLang="en-US" sz="12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A168E-4139-47AE-B19C-E1702790A43B}"/>
              </a:ext>
            </a:extLst>
          </p:cNvPr>
          <p:cNvSpPr txBox="1"/>
          <p:nvPr/>
        </p:nvSpPr>
        <p:spPr>
          <a:xfrm>
            <a:off x="190233" y="50224"/>
            <a:ext cx="7147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system-ui"/>
              </a:rPr>
              <a:t>Bivariate Analysis¶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D42A1D-9343-4391-B74F-D421A88D656E}"/>
              </a:ext>
            </a:extLst>
          </p:cNvPr>
          <p:cNvSpPr txBox="1"/>
          <p:nvPr/>
        </p:nvSpPr>
        <p:spPr>
          <a:xfrm>
            <a:off x="4702075" y="337057"/>
            <a:ext cx="7146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Bivariate analysis</a:t>
            </a:r>
            <a:r>
              <a:rPr lang="en-US" dirty="0"/>
              <a:t> examines the relationship between </a:t>
            </a:r>
            <a:r>
              <a:rPr lang="en-US" b="1" dirty="0"/>
              <a:t>two variables</a:t>
            </a:r>
            <a:r>
              <a:rPr lang="en-US" dirty="0"/>
              <a:t> to understand how one variable influences or is associated with another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0F139D-196E-482B-878A-D776DFAA6F47}"/>
              </a:ext>
            </a:extLst>
          </p:cNvPr>
          <p:cNvSpPr txBox="1"/>
          <p:nvPr/>
        </p:nvSpPr>
        <p:spPr>
          <a:xfrm>
            <a:off x="123175" y="934937"/>
            <a:ext cx="6711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  <a:latin typeface="system-ui"/>
              </a:rPr>
              <a:t>Example 1: Living Area vs Sale Price (Numeric–Numeric)</a:t>
            </a:r>
          </a:p>
          <a:p>
            <a:pPr algn="l"/>
            <a:r>
              <a:rPr lang="en-US" sz="2000" b="1" i="0" dirty="0">
                <a:effectLst/>
                <a:latin typeface="system-ui"/>
              </a:rPr>
              <a:t>Variables: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GrLivArea</a:t>
            </a:r>
            <a:r>
              <a:rPr lang="en-US" b="0" i="0" dirty="0">
                <a:effectLst/>
                <a:latin typeface="system-ui"/>
              </a:rPr>
              <a:t> → Living area (sq. ft)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→ House price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Purpose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To understand how house size affects price.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CE3F92-B222-4DA1-A1FF-665969B32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527" y="1270221"/>
            <a:ext cx="5408708" cy="38391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81A6EB7-49F9-4E50-B3BA-83EDA9E2B970}"/>
              </a:ext>
            </a:extLst>
          </p:cNvPr>
          <p:cNvSpPr txBox="1"/>
          <p:nvPr/>
        </p:nvSpPr>
        <p:spPr>
          <a:xfrm>
            <a:off x="123175" y="2796053"/>
            <a:ext cx="98234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##Observation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Strong positive relationship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As living area increases, sale price increases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Conclusion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Living area is a key determinant of house price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Insight: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Linear or non-linear relationship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Correlation direction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Outliers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8EE002-5BBB-4C0B-9AB5-299B8884F5F3}"/>
              </a:ext>
            </a:extLst>
          </p:cNvPr>
          <p:cNvSpPr txBox="1"/>
          <p:nvPr/>
        </p:nvSpPr>
        <p:spPr>
          <a:xfrm>
            <a:off x="8068845" y="5232758"/>
            <a:ext cx="714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Scatter 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6450" y="1041401"/>
            <a:ext cx="4591050" cy="742810"/>
            <a:chOff x="0" y="0"/>
            <a:chExt cx="9182100" cy="148562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9211"/>
              <a:ext cx="9182100" cy="466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56450" y="4622801"/>
            <a:ext cx="4591050" cy="742810"/>
            <a:chOff x="0" y="0"/>
            <a:chExt cx="9182100" cy="1485621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19211"/>
              <a:ext cx="9182100" cy="466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56450" y="2832101"/>
            <a:ext cx="4591050" cy="742810"/>
            <a:chOff x="0" y="0"/>
            <a:chExt cx="9182100" cy="14856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9182100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19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19211"/>
              <a:ext cx="9182100" cy="466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endParaRPr lang="en-US" sz="14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-2091621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16D0AA-0B32-441C-A8B7-327C407DF569}"/>
              </a:ext>
            </a:extLst>
          </p:cNvPr>
          <p:cNvSpPr txBox="1"/>
          <p:nvPr/>
        </p:nvSpPr>
        <p:spPr>
          <a:xfrm>
            <a:off x="9692" y="129121"/>
            <a:ext cx="7146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##Example 2: Number of Bedrooms vs Sale Price (Categorical–Numeric)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962766-E51A-471F-B641-A31A9A633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85" y="1510940"/>
            <a:ext cx="5499772" cy="38361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0F43A91-3AC0-4B63-B36D-FD36B83BA561}"/>
              </a:ext>
            </a:extLst>
          </p:cNvPr>
          <p:cNvSpPr txBox="1"/>
          <p:nvPr/>
        </p:nvSpPr>
        <p:spPr>
          <a:xfrm>
            <a:off x="6332957" y="1823342"/>
            <a:ext cx="63134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##Observation</a:t>
            </a:r>
          </a:p>
          <a:p>
            <a:endParaRPr lang="en-US" dirty="0"/>
          </a:p>
          <a:p>
            <a:r>
              <a:rPr lang="en-US" dirty="0"/>
              <a:t>Prices increase with bedrooms up to a point</a:t>
            </a:r>
          </a:p>
          <a:p>
            <a:endParaRPr lang="en-US" dirty="0"/>
          </a:p>
          <a:p>
            <a:r>
              <a:rPr lang="en-US" dirty="0"/>
              <a:t>After that, the increase is marginal</a:t>
            </a:r>
          </a:p>
          <a:p>
            <a:endParaRPr lang="en-US" dirty="0"/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r>
              <a:rPr lang="en-US" dirty="0"/>
              <a:t>More bedrooms increase value, but with diminishing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C33A1E9F-78D6-4E2C-9C12-852AD38104E9}"/>
              </a:ext>
            </a:extLst>
          </p:cNvPr>
          <p:cNvSpPr/>
          <p:nvPr/>
        </p:nvSpPr>
        <p:spPr>
          <a:xfrm>
            <a:off x="10100379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366CC067-3D00-43C3-B084-FAF9C6DE19D3}"/>
              </a:ext>
            </a:extLst>
          </p:cNvPr>
          <p:cNvGrpSpPr/>
          <p:nvPr/>
        </p:nvGrpSpPr>
        <p:grpSpPr>
          <a:xfrm>
            <a:off x="444500" y="1041400"/>
            <a:ext cx="6508750" cy="2603442"/>
            <a:chOff x="0" y="0"/>
            <a:chExt cx="13017500" cy="5206885"/>
          </a:xfrm>
        </p:grpSpPr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4B0D4EF-7759-48B6-8770-61732E770FDE}"/>
                </a:ext>
              </a:extLst>
            </p:cNvPr>
            <p:cNvSpPr txBox="1"/>
            <p:nvPr/>
          </p:nvSpPr>
          <p:spPr>
            <a:xfrm>
              <a:off x="0" y="0"/>
              <a:ext cx="13017500" cy="139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endParaRPr lang="en-US" sz="4666" spc="-93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enor Sans"/>
              </a:endParaRPr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93A364FB-0F2C-4D7F-AAB3-4C11D0C0E7D6}"/>
                </a:ext>
              </a:extLst>
            </p:cNvPr>
            <p:cNvSpPr txBox="1"/>
            <p:nvPr/>
          </p:nvSpPr>
          <p:spPr>
            <a:xfrm>
              <a:off x="0" y="3533739"/>
              <a:ext cx="13017500" cy="531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Medium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6140131A-535A-4A51-94B9-98B5B668E447}"/>
                </a:ext>
              </a:extLst>
            </p:cNvPr>
            <p:cNvSpPr txBox="1"/>
            <p:nvPr/>
          </p:nvSpPr>
          <p:spPr>
            <a:xfrm>
              <a:off x="0" y="4727523"/>
              <a:ext cx="13017500" cy="479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  <a:spcBef>
                  <a:spcPct val="0"/>
                </a:spcBef>
              </a:pPr>
              <a:endParaRPr lang="en-US" sz="1399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FC84679-99A0-4E27-B5BD-F795C74B2BF8}"/>
              </a:ext>
            </a:extLst>
          </p:cNvPr>
          <p:cNvSpPr txBox="1">
            <a:spLocks/>
          </p:cNvSpPr>
          <p:nvPr/>
        </p:nvSpPr>
        <p:spPr>
          <a:xfrm>
            <a:off x="304800" y="127037"/>
            <a:ext cx="10210800" cy="132914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062140-B089-4FF2-BCCD-CE562EED92B8}"/>
              </a:ext>
            </a:extLst>
          </p:cNvPr>
          <p:cNvSpPr txBox="1">
            <a:spLocks/>
          </p:cNvSpPr>
          <p:nvPr/>
        </p:nvSpPr>
        <p:spPr>
          <a:xfrm>
            <a:off x="304800" y="1010745"/>
            <a:ext cx="10210800" cy="526305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F2F1A-DF75-4FB6-B0A5-BAFF223761EB}"/>
              </a:ext>
            </a:extLst>
          </p:cNvPr>
          <p:cNvSpPr txBox="1"/>
          <p:nvPr/>
        </p:nvSpPr>
        <p:spPr>
          <a:xfrm>
            <a:off x="127635" y="164237"/>
            <a:ext cx="7142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effectLst/>
                <a:latin typeface="system-ui"/>
              </a:rPr>
              <a:t>##Example 3: Garage Cars vs Sale Price (Categorical–Numeric)</a:t>
            </a:r>
          </a:p>
          <a:p>
            <a:pPr algn="l"/>
            <a:r>
              <a:rPr lang="en-US" sz="2400" b="1" i="0" dirty="0">
                <a:effectLst/>
                <a:latin typeface="system-ui"/>
              </a:rPr>
              <a:t>Variables: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GarageCars</a:t>
            </a:r>
            <a:r>
              <a:rPr lang="en-US" b="0" i="0" dirty="0">
                <a:effectLst/>
                <a:latin typeface="system-ui"/>
              </a:rPr>
              <a:t> → Garage capacity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→ House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7BCCF-6A61-4870-AC96-90FEFE57D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7072"/>
            <a:ext cx="5938186" cy="42798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ACE932-1926-469C-B0B0-EB4671768C2C}"/>
              </a:ext>
            </a:extLst>
          </p:cNvPr>
          <p:cNvSpPr txBox="1"/>
          <p:nvPr/>
        </p:nvSpPr>
        <p:spPr>
          <a:xfrm>
            <a:off x="6115351" y="2909803"/>
            <a:ext cx="59381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##Observation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Houses with 2–3 car garages are priced higher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Conclusion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Garage space significantly impacts house valuation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Insight: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Category comparison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Mean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C3709F-1589-44B8-B704-1DBD150D2BE9}"/>
              </a:ext>
            </a:extLst>
          </p:cNvPr>
          <p:cNvSpPr txBox="1"/>
          <p:nvPr/>
        </p:nvSpPr>
        <p:spPr>
          <a:xfrm>
            <a:off x="231007" y="304610"/>
            <a:ext cx="107610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effectLst/>
                <a:latin typeface="system-ui"/>
              </a:rPr>
              <a:t>##xample 4: Overall Quality vs Sale Price (Ordinal–Numeric)</a:t>
            </a:r>
          </a:p>
          <a:p>
            <a:pPr algn="l"/>
            <a:r>
              <a:rPr lang="en-US" sz="2400" i="0" dirty="0">
                <a:effectLst/>
                <a:latin typeface="system-ui"/>
              </a:rPr>
              <a:t>Variables</a:t>
            </a:r>
            <a:r>
              <a:rPr lang="en-US" sz="2400" b="1" i="0" dirty="0">
                <a:effectLst/>
                <a:latin typeface="system-ui"/>
              </a:rPr>
              <a:t>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OverallQual</a:t>
            </a:r>
            <a:r>
              <a:rPr lang="en-US" b="0" i="0" dirty="0">
                <a:effectLst/>
                <a:latin typeface="system-ui"/>
              </a:rPr>
              <a:t> → Quality rating (1–10)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→ House price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0ACE4-A882-489E-880A-D7061D95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443" y="830574"/>
            <a:ext cx="7747001" cy="5271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3A8C43-FBDE-4650-8C64-2D6927DE6FAC}"/>
              </a:ext>
            </a:extLst>
          </p:cNvPr>
          <p:cNvSpPr txBox="1"/>
          <p:nvPr/>
        </p:nvSpPr>
        <p:spPr>
          <a:xfrm>
            <a:off x="231008" y="1951671"/>
            <a:ext cx="36974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##Observation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Strong upward trend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Higher quality = higher price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Conclusion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Overall quality has a strong positive effect on pricing</a:t>
            </a:r>
          </a:p>
        </p:txBody>
      </p:sp>
    </p:spTree>
    <p:extLst>
      <p:ext uri="{BB962C8B-B14F-4D97-AF65-F5344CB8AC3E}">
        <p14:creationId xmlns:p14="http://schemas.microsoft.com/office/powerpoint/2010/main" val="109447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7D8B35-C4C0-49B6-98ED-3E3A6E69F6A5}"/>
              </a:ext>
            </a:extLst>
          </p:cNvPr>
          <p:cNvSpPr txBox="1"/>
          <p:nvPr/>
        </p:nvSpPr>
        <p:spPr>
          <a:xfrm>
            <a:off x="3195589" y="171470"/>
            <a:ext cx="61024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effectLst/>
                <a:latin typeface="system-ui"/>
              </a:rPr>
              <a:t>Multivariate analysis</a:t>
            </a:r>
            <a:r>
              <a:rPr lang="en-US" sz="4000" b="1" i="0" u="none" strike="noStrike" dirty="0">
                <a:solidFill>
                  <a:srgbClr val="0D47A1"/>
                </a:solidFill>
                <a:effectLst/>
                <a:latin typeface="system-ui"/>
                <a:hlinkClick r:id="rId2"/>
              </a:rPr>
              <a:t>¶</a:t>
            </a:r>
            <a:endParaRPr lang="en-US" sz="4000" b="1" i="0" dirty="0">
              <a:effectLst/>
              <a:latin typeface="system-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1995D-8479-44F7-89F8-5F70D9EF9E8F}"/>
              </a:ext>
            </a:extLst>
          </p:cNvPr>
          <p:cNvSpPr txBox="1"/>
          <p:nvPr/>
        </p:nvSpPr>
        <p:spPr>
          <a:xfrm>
            <a:off x="144381" y="879356"/>
            <a:ext cx="610241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  <a:latin typeface="system-ui"/>
              </a:rPr>
              <a:t>##Example 1: Living Area + Bedrooms + Bathrooms vs Sale Price</a:t>
            </a:r>
          </a:p>
          <a:p>
            <a:pPr algn="l"/>
            <a:r>
              <a:rPr lang="en-US" sz="2000" i="0" dirty="0">
                <a:effectLst/>
                <a:latin typeface="system-ui"/>
              </a:rPr>
              <a:t>Variables involved (4 variables):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GrLivArea</a:t>
            </a:r>
            <a:r>
              <a:rPr lang="en-US" b="0" i="0" dirty="0">
                <a:effectLst/>
                <a:latin typeface="system-ui"/>
              </a:rPr>
              <a:t> (size)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BedroomAbvGr</a:t>
            </a:r>
            <a:r>
              <a:rPr lang="en-US" b="0" i="0" dirty="0">
                <a:effectLst/>
                <a:latin typeface="system-ui"/>
              </a:rPr>
              <a:t> (bedrooms)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FullBath</a:t>
            </a:r>
            <a:r>
              <a:rPr lang="en-US" b="0" i="0" dirty="0">
                <a:effectLst/>
                <a:latin typeface="system-ui"/>
              </a:rPr>
              <a:t> (bathrooms)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(target)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🔹 Purpose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To understand how multiple house features together influence price.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🔹 Code (Scatter with Color Encoding)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8D2246-17EB-491D-8960-D99BF4C89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971" y="1854626"/>
            <a:ext cx="5154068" cy="36510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D283BF-FDA1-4755-8960-1C0767368101}"/>
              </a:ext>
            </a:extLst>
          </p:cNvPr>
          <p:cNvSpPr txBox="1"/>
          <p:nvPr/>
        </p:nvSpPr>
        <p:spPr>
          <a:xfrm>
            <a:off x="510139" y="4224318"/>
            <a:ext cx="6102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##Observation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Larger houses with more bedrooms and bathrooms are priced higher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Color and size show combined influence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🔹 Conclusion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House price depends on multiple features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262244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283AF-87FF-441E-AF16-D24870EFBAD5}"/>
              </a:ext>
            </a:extLst>
          </p:cNvPr>
          <p:cNvSpPr txBox="1"/>
          <p:nvPr/>
        </p:nvSpPr>
        <p:spPr>
          <a:xfrm>
            <a:off x="154005" y="0"/>
            <a:ext cx="610241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  <a:latin typeface="system-ui"/>
              </a:rPr>
              <a:t>##Example 2: Correlation Heatmap (Multiple Numeric Variables)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Variables: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GrLivArea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OverallQual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GarageCars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TotalBsmtSF</a:t>
            </a:r>
            <a:endParaRPr lang="en-US" b="0" i="0" dirty="0">
              <a:effectLst/>
              <a:latin typeface="system-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792DA-82B9-4525-9132-FB872198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45" y="568416"/>
            <a:ext cx="3762533" cy="3162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2A7091-DB15-442B-86D6-62AF9C491525}"/>
              </a:ext>
            </a:extLst>
          </p:cNvPr>
          <p:cNvSpPr txBox="1"/>
          <p:nvPr/>
        </p:nvSpPr>
        <p:spPr>
          <a:xfrm>
            <a:off x="5572084" y="566678"/>
            <a:ext cx="61024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##Observation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Strong correlation between </a:t>
            </a:r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and: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OverallQual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GrLivArea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 err="1">
                <a:effectLst/>
                <a:latin typeface="system-ui"/>
              </a:rPr>
              <a:t>GarageCars</a:t>
            </a:r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>
                <a:effectLst/>
                <a:latin typeface="system-ui"/>
              </a:rPr>
              <a:t>🔹 Conclusion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Multiple variables jointly explain price variation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Insight: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Strength &amp; direction of relationships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Feature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37BC5-84BA-45DD-9857-DC281E8F8D0A}"/>
              </a:ext>
            </a:extLst>
          </p:cNvPr>
          <p:cNvSpPr txBox="1"/>
          <p:nvPr/>
        </p:nvSpPr>
        <p:spPr>
          <a:xfrm>
            <a:off x="154005" y="4299327"/>
            <a:ext cx="610241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  <a:latin typeface="system-ui"/>
              </a:rPr>
              <a:t>##Example 3: Boxplot with Multiple Categories</a:t>
            </a:r>
          </a:p>
          <a:p>
            <a:pPr algn="l"/>
            <a:r>
              <a:rPr lang="en-US" sz="2000" b="1" i="0" dirty="0">
                <a:effectLst/>
                <a:latin typeface="system-ui"/>
              </a:rPr>
              <a:t>Variables (3 variables):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SalePrice</a:t>
            </a:r>
            <a:r>
              <a:rPr lang="en-US" b="0" i="0" dirty="0">
                <a:effectLst/>
                <a:latin typeface="system-ui"/>
              </a:rPr>
              <a:t> (numeric)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Neighborhood (categorical)</a:t>
            </a:r>
          </a:p>
          <a:p>
            <a:pPr algn="l"/>
            <a:r>
              <a:rPr lang="en-US" b="0" i="0" dirty="0" err="1">
                <a:effectLst/>
                <a:latin typeface="system-ui"/>
              </a:rPr>
              <a:t>OverallQual</a:t>
            </a:r>
            <a:r>
              <a:rPr lang="en-US" b="0" i="0" dirty="0">
                <a:effectLst/>
                <a:latin typeface="system-ui"/>
              </a:rPr>
              <a:t> (categorical)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A7905B-D9AA-4AFB-B1D4-A9551A282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084" y="3569376"/>
            <a:ext cx="5035400" cy="245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1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9DA17-CB11-433C-B218-352EE747784E}"/>
              </a:ext>
            </a:extLst>
          </p:cNvPr>
          <p:cNvSpPr txBox="1"/>
          <p:nvPr/>
        </p:nvSpPr>
        <p:spPr>
          <a:xfrm>
            <a:off x="67377" y="171469"/>
            <a:ext cx="6102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effectLst/>
                <a:latin typeface="system-ui"/>
              </a:rPr>
              <a:t>##Example 4: Pair Plot (Classic Multivariate EDA)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BF0A3-6E2D-4D1E-B91B-ACD54FC28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48" y="0"/>
            <a:ext cx="6763352" cy="6150543"/>
          </a:xfrm>
          <a:prstGeom prst="rect">
            <a:avLst/>
          </a:prstGeom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074FB51A-6E6E-4515-B446-F8A48BEF9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43946"/>
            <a:ext cx="532277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SalePrice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GrLivArea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positive correlation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houses (higher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GrLivArea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tend to have higher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SalePrice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a few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very high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GrLivArea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not proportionally high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44234695-9A96-4653-9CFA-EC3617EF1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7" y="3157815"/>
            <a:ext cx="51880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SalePrice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GarageCars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Houses with more garage spaces tend to have higher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SalePrice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the correlation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than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GrLivArea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OverallQual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houses have 1–3 garage spaces, with very few having 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61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72168-E1EA-46D6-9E48-7A94A2EE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19" y="907080"/>
            <a:ext cx="6415360" cy="4643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7AB91D-6BB5-4066-8D6C-5229257D4267}"/>
              </a:ext>
            </a:extLst>
          </p:cNvPr>
          <p:cNvSpPr txBox="1"/>
          <p:nvPr/>
        </p:nvSpPr>
        <p:spPr>
          <a:xfrm>
            <a:off x="269508" y="277347"/>
            <a:ext cx="6102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effectLst/>
                <a:latin typeface="system-ui"/>
              </a:rPr>
              <a:t>##Example 4: Line Plot (Classic Multivariate EDA)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76743-9A8C-444D-9577-3772EA73E97C}"/>
              </a:ext>
            </a:extLst>
          </p:cNvPr>
          <p:cNvSpPr txBox="1"/>
          <p:nvPr/>
        </p:nvSpPr>
        <p:spPr>
          <a:xfrm>
            <a:off x="269508" y="1306965"/>
            <a:ext cx="49955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Overall Market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trend follows a </a:t>
            </a:r>
            <a:r>
              <a:rPr lang="en-US" b="1" dirty="0"/>
              <a:t>boom → crash → weak recovery</a:t>
            </a:r>
            <a:r>
              <a:rPr lang="en-US" dirty="0"/>
              <a:t>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volatility suggests </a:t>
            </a:r>
            <a:r>
              <a:rPr lang="en-US" b="1" dirty="0"/>
              <a:t>macroeconomic factors</a:t>
            </a:r>
            <a:r>
              <a:rPr lang="en-US" dirty="0"/>
              <a:t> dominate price movement more than property-level features in this timeframe.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6C151C9-70DE-4D39-8BE8-EB9AE86CE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08" y="3250731"/>
            <a:ext cx="499551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Implications for Analysis &amp;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meaningful temporal feature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should not be ignored.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time-based dummy variables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or interaction terms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OverallQual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GrLivArea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assuming price stationarity across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3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3C6F7-453B-4362-94D4-BD9C91C2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221381"/>
            <a:ext cx="11155680" cy="579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89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78000" y="2889985"/>
            <a:ext cx="10274300" cy="10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15934" spc="-93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enor Sans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6100" y="3390900"/>
            <a:ext cx="5549900" cy="2352089"/>
            <a:chOff x="0" y="-76200"/>
            <a:chExt cx="11099800" cy="4704179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11099800" cy="5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0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67134"/>
              <a:ext cx="110998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  <a:spcBef>
                  <a:spcPct val="0"/>
                </a:spcBef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14474"/>
              <a:ext cx="11099800" cy="5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0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57811"/>
              <a:ext cx="110998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  <a:spcBef>
                  <a:spcPct val="0"/>
                </a:spcBef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05151"/>
              <a:ext cx="11099800" cy="5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0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148487"/>
              <a:ext cx="11099800" cy="47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  <a:spcBef>
                  <a:spcPct val="0"/>
                </a:spcBef>
              </a:pPr>
              <a:endParaRPr lang="en-US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endParaRPr>
            </a:p>
          </p:txBody>
        </p:sp>
      </p:grpSp>
      <p:sp>
        <p:nvSpPr>
          <p:cNvPr id="14" name="Freeform 2">
            <a:extLst>
              <a:ext uri="{FF2B5EF4-FFF2-40B4-BE49-F238E27FC236}">
                <a16:creationId xmlns:a16="http://schemas.microsoft.com/office/drawing/2014/main" id="{DD039863-881A-42B7-9E8F-4317C3DE21A6}"/>
              </a:ext>
            </a:extLst>
          </p:cNvPr>
          <p:cNvSpPr/>
          <p:nvPr/>
        </p:nvSpPr>
        <p:spPr>
          <a:xfrm>
            <a:off x="10100379" y="4800600"/>
            <a:ext cx="4183243" cy="27432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107</TotalTime>
  <Words>981</Words>
  <Application>Microsoft Office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Clear Sans</vt:lpstr>
      <vt:lpstr>Clear Sans Bold</vt:lpstr>
      <vt:lpstr>Gill Sans MT</vt:lpstr>
      <vt:lpstr>system-ui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Himanshu</dc:creator>
  <cp:lastModifiedBy>Himanshu</cp:lastModifiedBy>
  <cp:revision>23</cp:revision>
  <dcterms:created xsi:type="dcterms:W3CDTF">2025-10-23T16:49:44Z</dcterms:created>
  <dcterms:modified xsi:type="dcterms:W3CDTF">2026-01-31T17:06:20Z</dcterms:modified>
</cp:coreProperties>
</file>